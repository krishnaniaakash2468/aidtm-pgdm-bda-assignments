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Geist" panose="020B0604020202020204" charset="0"/>
      <p:regular r:id="rId11"/>
    </p:embeddedFont>
    <p:embeddedFont>
      <p:font typeface="Geist Bold" panose="020B0604020202020204" charset="0"/>
      <p:regular r:id="rId12"/>
    </p:embeddedFont>
    <p:embeddedFont>
      <p:font typeface="Geist SemiBold" panose="020B0604020202020204" charset="0"/>
      <p:regular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841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10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715486"/>
            <a:ext cx="11175720" cy="173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kern="100" spc="63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STRATEGIC AI RECOMMENDATIONS FOR AN INDIAN BANK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812780" y="1207492"/>
            <a:ext cx="50799" cy="1887736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168371" y="1225907"/>
            <a:ext cx="10210545" cy="1452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400" b="1" kern="100" spc="-8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in Banking &amp;</a:t>
            </a:r>
            <a:endParaRPr lang="en-US" sz="4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4400" b="1" kern="100" spc="-8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Financial Services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168371" y="2772966"/>
            <a:ext cx="1021054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Making banking safer, faster, and more customer-centric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780" y="3700066"/>
            <a:ext cx="326798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Fraud Prevention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88752" y="3700066"/>
            <a:ext cx="3014091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Credit Decisions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10831" y="3700066"/>
            <a:ext cx="326808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 Experience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12780" y="4746228"/>
            <a:ext cx="10566136" cy="1400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Group - 1 </a:t>
            </a:r>
            <a:endParaRPr lang="en-US" sz="1400" dirty="0"/>
          </a:p>
          <a:p>
            <a:pPr marL="0" indent="0" algn="l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Aditya Deshmukh                Aakash krishnani</a:t>
            </a:r>
            <a:endParaRPr lang="en-US" sz="1400" dirty="0"/>
          </a:p>
          <a:p>
            <a:pPr marL="0" indent="0" algn="l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Aayushi Goria                       Aditya Mishra</a:t>
            </a: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4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Aditya Panchal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28409" y="3514328"/>
            <a:ext cx="12700" cy="68580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850487" y="3514328"/>
            <a:ext cx="12700" cy="68580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359886"/>
            <a:ext cx="11683708" cy="173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50" kern="100" spc="63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BUSINESS CHALLENGES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7987" y="618153"/>
            <a:ext cx="11175720" cy="158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100" spc="-96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Three problems require one coordinated strategy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07987" y="2409130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87" y="2632968"/>
          <a:ext cx="11175720" cy="2821611"/>
        </p:xfrm>
        <a:graphic>
          <a:graphicData uri="http://schemas.openxmlformats.org/drawingml/2006/table">
            <a:tbl>
              <a:tblPr/>
              <a:tblGrid>
                <a:gridCol w="2458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6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4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Business challenge</a:t>
                      </a:r>
                      <a:endParaRPr lang="en-US" sz="17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Current issue</a:t>
                      </a:r>
                      <a:endParaRPr lang="en-US" sz="17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Strategic need</a:t>
                      </a:r>
                      <a:endParaRPr lang="en-US" sz="17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6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kern="100" spc="-28" dirty="0">
                          <a:solidFill>
                            <a:srgbClr val="F2F5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Fraud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Missed risks and false alerts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Better risk detection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6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kern="100" spc="-28" dirty="0">
                          <a:solidFill>
                            <a:srgbClr val="F2F5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Lending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Manual checks and delays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Faster, fairer decisions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2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kern="100" spc="-28" dirty="0">
                          <a:solidFill>
                            <a:srgbClr val="F2F5FA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Engagement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Generic and slow service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Relevant customer support</a:t>
                      </a:r>
                      <a:endParaRPr lang="en-US" sz="14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203195" marR="203195" marT="228594" marB="228594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7987" y="5613400"/>
            <a:ext cx="11175720" cy="787400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07987" y="5613400"/>
            <a:ext cx="38099" cy="787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825479" y="5849937"/>
            <a:ext cx="1057883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kern="100" spc="-4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must improve business processes, not simply add new technology.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1505019" y="6472337"/>
            <a:ext cx="686676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22884"/>
            <a:ext cx="12191695" cy="635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07987" y="361482"/>
            <a:ext cx="11683708" cy="116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kern="100" spc="48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SOLUTION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07987" y="530248"/>
            <a:ext cx="10500672" cy="1211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600" b="1" kern="100" spc="-73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 shared data foundation enables three focused AI solutions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7987" y="2332434"/>
            <a:ext cx="11175720" cy="710902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17532" y="2469319"/>
            <a:ext cx="10756631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sources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532" y="2760274"/>
            <a:ext cx="10966176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Banking systems · Transactions · Loan records · Customer interactions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987" y="3061998"/>
            <a:ext cx="1117572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↓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7987" y="3224411"/>
            <a:ext cx="11175720" cy="710902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17532" y="3361296"/>
            <a:ext cx="10756631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Governed data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532" y="3652251"/>
            <a:ext cx="10966176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 quality · Secure access · Privacy controls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7987" y="3953975"/>
            <a:ext cx="1117572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↓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7987" y="4116387"/>
            <a:ext cx="3623577" cy="891977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07987" y="4116387"/>
            <a:ext cx="3623577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11182" y="4285022"/>
            <a:ext cx="3217187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Fraud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82" y="4575977"/>
            <a:ext cx="3217187" cy="31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Risk scoring</a:t>
            </a:r>
            <a:endParaRPr lang="en-US" sz="1050" dirty="0"/>
          </a:p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Anomaly detection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83960" y="4116387"/>
            <a:ext cx="3623676" cy="891977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283960" y="4116387"/>
            <a:ext cx="3623676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487155" y="4285022"/>
            <a:ext cx="3217286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Credit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7155" y="4575977"/>
            <a:ext cx="3217286" cy="31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Document extraction</a:t>
            </a:r>
            <a:endParaRPr lang="en-US" sz="1050" dirty="0"/>
          </a:p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Explainable risk assessment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60032" y="4116387"/>
            <a:ext cx="3623676" cy="891977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8060032" y="4116387"/>
            <a:ext cx="3623676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263227" y="4285022"/>
            <a:ext cx="3217286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 service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63227" y="4575977"/>
            <a:ext cx="3217286" cy="311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Recommendations</a:t>
            </a:r>
            <a:endParaRPr lang="en-US" sz="1050" dirty="0"/>
          </a:p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Multilingual assistance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7987" y="5027026"/>
            <a:ext cx="11175720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0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↓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987" y="5189438"/>
            <a:ext cx="11175720" cy="698202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11182" y="5319973"/>
            <a:ext cx="10769331" cy="2144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b="1" kern="100" spc="-26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Controlled decisions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1182" y="5610928"/>
            <a:ext cx="10972526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Policy checks · Human review · Monitoring and audit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7987" y="5986273"/>
            <a:ext cx="11683708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One governed foundation. Three purpose-built AI applications.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505813" y="6472337"/>
            <a:ext cx="685882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3744"/>
            <a:ext cx="11582110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kern="100" spc="58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FRAUD PREVENTION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09585" y="843423"/>
            <a:ext cx="10972526" cy="1469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kern="100" spc="-89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Fraud detection should improve accuracy without increasing customer friction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585" y="2512417"/>
            <a:ext cx="10972526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09585" y="2709069"/>
            <a:ext cx="2438339" cy="1069578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4529" y="2953207"/>
            <a:ext cx="1968451" cy="306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850" b="1" kern="10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Transaction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3505112" y="2943194"/>
            <a:ext cx="914377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76579" y="2709069"/>
            <a:ext cx="2438438" cy="1069578"/>
          </a:xfrm>
          <a:prstGeom prst="rect">
            <a:avLst/>
          </a:prstGeom>
          <a:solidFill>
            <a:srgbClr val="1D232D"/>
          </a:solidFill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111523" y="2953207"/>
            <a:ext cx="1968550" cy="306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850" b="1" kern="100" spc="-3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risk score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772106" y="2943194"/>
            <a:ext cx="914377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3672" y="2709069"/>
            <a:ext cx="2438438" cy="1069578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372266" y="2946857"/>
            <a:ext cx="1981250" cy="612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850" b="1" kern="100" spc="-37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Risk-based action</a:t>
            </a:r>
            <a:endParaRPr lang="en-US" sz="1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3915073"/>
          <a:ext cx="5257669" cy="1250918"/>
        </p:xfrm>
        <a:graphic>
          <a:graphicData uri="http://schemas.openxmlformats.org/drawingml/2006/table">
            <a:tbl>
              <a:tblPr/>
              <a:tblGrid>
                <a:gridCol w="1472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55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Risk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Action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Low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Allow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Uncertain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Additional authentication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96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High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Pause or escalate as justified</a:t>
                      </a:r>
                      <a:endParaRPr lang="en-US" sz="13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50799" marB="50799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324442" y="3915073"/>
            <a:ext cx="5257668" cy="9400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Combine existing rules with machine learning</a:t>
            </a:r>
            <a:endParaRPr lang="en-US" sz="1300" dirty="0"/>
          </a:p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Detect unusual transaction patterns</a:t>
            </a:r>
            <a:endParaRPr lang="en-US" sz="1300" dirty="0"/>
          </a:p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Provide understandable risk reasons</a:t>
            </a:r>
            <a:endParaRPr lang="en-US" sz="1300" dirty="0"/>
          </a:p>
          <a:p>
            <a:pPr marL="264160" indent="-264160" algn="l">
              <a:lnSpc>
                <a:spcPct val="104000"/>
              </a:lnSpc>
              <a:buSzPct val="100000"/>
              <a:buChar char="•"/>
            </a:pPr>
            <a:r>
              <a:rPr lang="en-US" sz="13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Start with shadow testing before live deployment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09585" y="5306592"/>
            <a:ext cx="11582110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KPIs: fraud losses · Detection time · Precision · Recall · False decline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9585" y="5593655"/>
            <a:ext cx="10972526" cy="511175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09585" y="5593655"/>
            <a:ext cx="38099" cy="511175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76278" y="5751580"/>
            <a:ext cx="10705832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Measure useful fraud detection, not the number of alerts.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505515" y="6472337"/>
            <a:ext cx="686180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3049"/>
            <a:ext cx="12191695" cy="635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07987" y="358869"/>
            <a:ext cx="11683708" cy="132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900" kern="100" spc="53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DECISIONS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7987" y="554610"/>
            <a:ext cx="11175720" cy="13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kern="100" spc="-8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can speed up credit decisions while preserving lending standards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87" y="2222599"/>
          <a:ext cx="11175720" cy="1797401"/>
        </p:xfrm>
        <a:graphic>
          <a:graphicData uri="http://schemas.openxmlformats.org/drawingml/2006/table">
            <a:tbl>
              <a:tblPr/>
              <a:tblGrid>
                <a:gridCol w="46937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1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Before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AI-enabled processing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Manual document checks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Automated data extraction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Repeated verification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Cross-checks against source records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7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Long queues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Faster routine processing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40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Limited visibility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Explainable risk reasons</a:t>
                      </a:r>
                      <a:endParaRPr lang="en-US" sz="11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88898" marB="888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507987" y="4231977"/>
            <a:ext cx="772696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01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7987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07987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Application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378115" y="4231977"/>
            <a:ext cx="806033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78115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378115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Document verification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48244" y="4231977"/>
            <a:ext cx="80533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03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8244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6248244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Risk assessment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18372" y="4231977"/>
            <a:ext cx="805636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150" dirty="0">
                <a:solidFill>
                  <a:srgbClr val="6296FF"/>
                </a:solidFill>
                <a:latin typeface="Geist SemiBold" pitchFamily="34" charset="0"/>
                <a:ea typeface="Geist SemiBold" pitchFamily="34" charset="-122"/>
                <a:cs typeface="Geist SemiBold" pitchFamily="34" charset="-120"/>
              </a:rPr>
              <a:t>04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118372" y="4439543"/>
            <a:ext cx="2565237" cy="19050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9118372" y="4550889"/>
            <a:ext cx="2565336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Policy checks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7987" y="5098478"/>
            <a:ext cx="3547378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Complete, straightforward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7987" y="5423818"/>
            <a:ext cx="3725174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Faster within approved rules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410957" y="5098478"/>
            <a:ext cx="3369682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Incomplete or uncertain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410957" y="5423818"/>
            <a:ext cx="3547478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 review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136230" y="5098478"/>
            <a:ext cx="3547478" cy="234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b="1" kern="100" spc="-2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All material decisions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36230" y="5423818"/>
            <a:ext cx="3547478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Records and review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07987" y="5809253"/>
            <a:ext cx="11683708" cy="132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8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KPIs: approval turnaround time · Manual rework · Early delinquency · Fairness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07987" y="6055246"/>
            <a:ext cx="11683708" cy="176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11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Automate routine work, not accountability.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226811" y="4993481"/>
            <a:ext cx="12700" cy="70217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7952085" y="4993481"/>
            <a:ext cx="12700" cy="702171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11504126" y="6472337"/>
            <a:ext cx="687569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5838"/>
            <a:ext cx="11582110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00" kern="100" spc="61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CUSTOMER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9585" y="861195"/>
            <a:ext cx="10972526" cy="1536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400" b="1" kern="100" spc="-93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Personalisation should solve customer problems, not just sell products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09585" y="2599333"/>
            <a:ext cx="10972526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09585" y="2810669"/>
            <a:ext cx="5333867" cy="1901329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09585" y="2810669"/>
            <a:ext cx="5333867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38179" y="3083047"/>
            <a:ext cx="487667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b="1" kern="10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Relevant personalisation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38179" y="3516809"/>
            <a:ext cx="4876678" cy="745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Bill and deposit-maturity reminders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Budgeting features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Recommendations aligned with needs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48244" y="2810669"/>
            <a:ext cx="5333867" cy="1901329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248244" y="2810669"/>
            <a:ext cx="5333867" cy="381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76838" y="3083047"/>
            <a:ext cx="4876678" cy="320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50" b="1" kern="100" spc="-39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Multilingual assistant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76838" y="3516809"/>
            <a:ext cx="4876678" cy="9665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Answers routine questions from approved bank information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Escalates sensitive or complex cases</a:t>
            </a:r>
            <a:endParaRPr lang="en-US" sz="1350" dirty="0"/>
          </a:p>
          <a:p>
            <a:pPr marL="274320" indent="-274320" algn="l">
              <a:lnSpc>
                <a:spcPct val="107000"/>
              </a:lnSpc>
              <a:buSzPct val="100000"/>
              <a:buChar char="•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Authenticates to protect account information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585" y="4861223"/>
            <a:ext cx="2194465" cy="100151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38179" y="5097983"/>
            <a:ext cx="173727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 query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804050" y="5096552"/>
            <a:ext cx="731522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7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535572" y="4861223"/>
            <a:ext cx="2194465" cy="100151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764166" y="5097983"/>
            <a:ext cx="1737277" cy="54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Approved information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730037" y="5096552"/>
            <a:ext cx="731522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7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61559" y="4861223"/>
            <a:ext cx="2194465" cy="100151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90153" y="5097983"/>
            <a:ext cx="173727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response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656024" y="5096552"/>
            <a:ext cx="731522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7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387546" y="4861223"/>
            <a:ext cx="2194565" cy="1001514"/>
          </a:xfrm>
          <a:prstGeom prst="rect">
            <a:avLst/>
          </a:prstGeom>
          <a:solidFill>
            <a:srgbClr val="6296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616140" y="5097983"/>
            <a:ext cx="1737376" cy="54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50" b="1" kern="100" spc="-33" dirty="0">
                <a:solidFill>
                  <a:srgbClr val="FFFFFF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Human handoff when needed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09585" y="6018200"/>
            <a:ext cx="11582110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KPIs: resolution time · Self-service completion · Customer satisfaction · Complaints · Opt-outs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9585" y="6333413"/>
            <a:ext cx="11582110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135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Make everyday banking simpler and more useful.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508293" y="6472337"/>
            <a:ext cx="683402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360200"/>
            <a:ext cx="11683708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kern="100" spc="49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GOVERNANCE AND EXECUTION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7987" y="532562"/>
            <a:ext cx="11175720" cy="12376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650" b="1" kern="100" spc="-75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Responsible AI and phased execution must go hand in hand</a:t>
            </a:r>
            <a:endParaRPr lang="en-US" sz="3650" dirty="0"/>
          </a:p>
        </p:txBody>
      </p:sp>
      <p:sp>
        <p:nvSpPr>
          <p:cNvPr id="4" name="Shape 2"/>
          <p:cNvSpPr/>
          <p:nvPr/>
        </p:nvSpPr>
        <p:spPr>
          <a:xfrm>
            <a:off x="507987" y="1960562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87" y="2110978"/>
          <a:ext cx="11175720" cy="1600180"/>
        </p:xfrm>
        <a:graphic>
          <a:graphicData uri="http://schemas.openxmlformats.org/drawingml/2006/table">
            <a:tbl>
              <a:tblPr/>
              <a:tblGrid>
                <a:gridCol w="2682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93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Control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Required practice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296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9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Data privacy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Secure, purpose-limited access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Fairness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Test for bias and unequal outcomes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9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Explainability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Record meaningful decision reasons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D23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3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12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Accountability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Human oversight, audit, fallback</a:t>
                      </a:r>
                      <a:endParaRPr lang="en-US" sz="110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88898" marR="88898" marT="76198" marB="76198" anchor="ctr">
                    <a:lnL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4E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16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7987" y="3893115"/>
            <a:ext cx="11175720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Indicative 18-month timeline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7987" y="5081389"/>
            <a:ext cx="11175720" cy="1905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5"/>
          <p:cNvSpPr/>
          <p:nvPr/>
        </p:nvSpPr>
        <p:spPr>
          <a:xfrm>
            <a:off x="2681518" y="4803676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9004" y="5029349"/>
            <a:ext cx="104078" cy="104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6741" y="4201815"/>
            <a:ext cx="4088504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0–3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6791" y="4504134"/>
            <a:ext cx="4088504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Governance and data foundation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951289" y="5081389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774" y="5029349"/>
            <a:ext cx="104078" cy="104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916561" y="5497909"/>
            <a:ext cx="4088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3–6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2916561" y="5800229"/>
            <a:ext cx="408860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Fraud and credit pilots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221158" y="4803676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644" y="5029349"/>
            <a:ext cx="104078" cy="104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86431" y="4201815"/>
            <a:ext cx="4088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6–12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186431" y="4504134"/>
            <a:ext cx="408860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Controlled deployment and service assistant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9491028" y="5081389"/>
            <a:ext cx="19050" cy="27771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514" y="5029349"/>
            <a:ext cx="104078" cy="1040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456301" y="5497909"/>
            <a:ext cx="4088603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kern="100" spc="-27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Months 12–18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7456301" y="5800229"/>
            <a:ext cx="4088603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1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Scale proven solutions and audit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07987" y="6010013"/>
            <a:ext cx="11683708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Indicative timings depend on data readiness, integration, validation, and regulatory review. Apply relevant RBI guidance and Indian data-protection requirements.</a:t>
            </a:r>
            <a:endParaRPr lang="en-US" sz="800" dirty="0"/>
          </a:p>
        </p:txBody>
      </p:sp>
      <p:sp>
        <p:nvSpPr>
          <p:cNvPr id="25" name="Shape 18"/>
          <p:cNvSpPr/>
          <p:nvPr/>
        </p:nvSpPr>
        <p:spPr>
          <a:xfrm>
            <a:off x="507987" y="6222702"/>
            <a:ext cx="11175720" cy="414734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07987" y="6222702"/>
            <a:ext cx="38099" cy="414734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0"/>
          <p:cNvSpPr/>
          <p:nvPr/>
        </p:nvSpPr>
        <p:spPr>
          <a:xfrm>
            <a:off x="774681" y="6356797"/>
            <a:ext cx="10909027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b="1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Pilot first. Validate outcomes. Scale responsibly.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07987" y="6738775"/>
            <a:ext cx="11683708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1516826" y="6472337"/>
            <a:ext cx="674869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358513"/>
            <a:ext cx="11683708" cy="159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kern="100" spc="60" dirty="0">
                <a:solidFill>
                  <a:srgbClr val="6296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BUSINESS OUTCOMES AND RECOMMENDATIONS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7987" y="597911"/>
            <a:ext cx="11175720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550" b="1" kern="100" spc="-91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Success depends on measurable business outcomes</a:t>
            </a:r>
            <a:endParaRPr lang="en-US" sz="4550" dirty="0"/>
          </a:p>
        </p:txBody>
      </p:sp>
      <p:sp>
        <p:nvSpPr>
          <p:cNvPr id="4" name="Shape 2"/>
          <p:cNvSpPr/>
          <p:nvPr/>
        </p:nvSpPr>
        <p:spPr>
          <a:xfrm>
            <a:off x="507987" y="2298799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07987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7987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11182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Risk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11182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Fraud losses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False declines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40016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340016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543211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Speed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543211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turnaround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Manual rework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046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172046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375241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Customer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75241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Resolution time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Satisfaction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04075" y="2502198"/>
            <a:ext cx="2679633" cy="1233488"/>
          </a:xfrm>
          <a:prstGeom prst="rect">
            <a:avLst/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9004075" y="2502198"/>
            <a:ext cx="2679633" cy="25400"/>
          </a:xfrm>
          <a:prstGeom prst="rect">
            <a:avLst/>
          </a:prstGeom>
          <a:solidFill>
            <a:srgbClr val="008A8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207270" y="2712955"/>
            <a:ext cx="2273243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Governance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207270" y="3140487"/>
            <a:ext cx="2273243" cy="4260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Validation, fairness,</a:t>
            </a:r>
            <a:endParaRPr lang="en-US" sz="13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security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7987" y="4013613"/>
            <a:ext cx="11175720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Recommendations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07987" y="4432498"/>
            <a:ext cx="11175720" cy="9714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Establish performance baselines</a:t>
            </a:r>
            <a:endParaRPr lang="en-US" sz="1350" dirty="0"/>
          </a:p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 startAt="2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Pilot fraud detection and one retail-credit journey</a:t>
            </a:r>
            <a:endParaRPr lang="en-US" sz="1350" dirty="0"/>
          </a:p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 startAt="3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Introduce a controlled customer-service assistant</a:t>
            </a:r>
            <a:endParaRPr lang="en-US" sz="1350" dirty="0"/>
          </a:p>
          <a:p>
            <a:pPr marL="274320" indent="-274320" algn="l">
              <a:lnSpc>
                <a:spcPct val="105000"/>
              </a:lnSpc>
              <a:buSzPct val="100000"/>
              <a:buFont typeface="+mj-lt"/>
              <a:buAutoNum type="arabicPeriod" startAt="4"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Scale only when results justify it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7987" y="5588298"/>
            <a:ext cx="11175621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07987" y="5927344"/>
            <a:ext cx="11175720" cy="312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900" b="1" kern="100" spc="-38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The goal is not to adopt more AI. It is to deliver safer, faster, and more trusted banking.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07987" y="6354877"/>
            <a:ext cx="11683708" cy="213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5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Thank You | Questions &amp; Discussion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506904" y="6472337"/>
            <a:ext cx="684791" cy="1617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608</Words>
  <Application>Microsoft Office PowerPoint</Application>
  <PresentationFormat>Widescreen</PresentationFormat>
  <Paragraphs>175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Geist SemiBold</vt:lpstr>
      <vt:lpstr>Geist Bold</vt:lpstr>
      <vt:lpstr>Geist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AAYUSHI GORIA</dc:creator>
  <cp:lastModifiedBy>AAYUSHI GORIA</cp:lastModifiedBy>
  <cp:revision>3</cp:revision>
  <dcterms:created xsi:type="dcterms:W3CDTF">2026-10-18T12:29:24Z</dcterms:created>
  <dcterms:modified xsi:type="dcterms:W3CDTF">2026-10-18T16:48:29Z</dcterms:modified>
</cp:coreProperties>
</file>
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Geist" panose="020B0604020202020204" charset="0"/>
      <p:regular r:id="rId11"/>
    </p:embeddedFont>
    <p:embeddedFont>
      <p:font typeface="Geist Bold" panose="020B0604020202020204" charset="0"/>
      <p:regular r:id="rId12"/>
    </p:embeddedFont>
    <p:embeddedFont>
      <p:font typeface="Geist SemiBold" panose="020B060402020202020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9" d="100"/>
          <a:sy n="39" d="100"/>
        </p:scale>
        <p:origin x="60" y="6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841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0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15486"/>
            <a:ext cx="11175720" cy="173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6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STRATEGIC AI RECOMMENDATIONS FOR AN INDIAN BANK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812780" y="1207492"/>
            <a:ext cx="50799" cy="1887736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168371" y="1225907"/>
            <a:ext cx="10210545" cy="1452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8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in Banking &amp;</a:t>
            </a:r>
            <a:endParaRPr lang="en-US" sz="4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8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Financial Services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168371" y="2772966"/>
            <a:ext cx="1021054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Making banking safer, faster, and more customer-centric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780" y="3700066"/>
            <a:ext cx="32679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 Prevention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88752" y="3700066"/>
            <a:ext cx="3014091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Credit Decisions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10831" y="3700066"/>
            <a:ext cx="32680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Experience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12780" y="4746228"/>
            <a:ext cx="10566136" cy="140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Group - 1 </a:t>
            </a:r>
            <a:endParaRPr lang="en-US" sz="1400" dirty="0"/>
          </a:p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Aditya Deshmukh                Aakash krishnani</a:t>
            </a:r>
            <a:endParaRPr lang="en-US" sz="1400" dirty="0"/>
          </a:p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Aayushi Goria                       Aditya Mishra</a:t>
            </a: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Aditya Panchal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28409" y="3514328"/>
            <a:ext cx="12700" cy="68580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850487" y="3514328"/>
            <a:ext cx="12700" cy="68580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59886"/>
            <a:ext cx="11683708" cy="173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6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BUSINESS CHALLENGES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7987" y="618153"/>
            <a:ext cx="11175720" cy="158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100" spc="-96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Three problems require one coordinated strategy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07987" y="2409130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632968"/>
          <a:ext cx="11175720" cy="2821611"/>
        </p:xfrm>
        <a:graphic>
          <a:graphicData uri="http://schemas.openxmlformats.org/drawingml/2006/table">
            <a:tbl>
              <a:tblPr/>
              <a:tblGrid>
                <a:gridCol w="2458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6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Business challenge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Current issue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Strategic need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6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Fraud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Missed risks and false alerts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Better risk detection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6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Lending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Manual checks and delays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Faster, fairer decisions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2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Engagement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Generic and slow service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Relevant customer support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7987" y="5613400"/>
            <a:ext cx="11175720" cy="787400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07987" y="5613400"/>
            <a:ext cx="38099" cy="787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825479" y="5849937"/>
            <a:ext cx="1057883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must improve business processes, not simply add new technology.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1505019" y="6472337"/>
            <a:ext cx="686676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22884"/>
            <a:ext cx="12191695" cy="635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7987" y="361482"/>
            <a:ext cx="11683708" cy="116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kern="100" spc="48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SOLUTION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7987" y="530248"/>
            <a:ext cx="11175720" cy="1211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00" b="1" kern="100" spc="-73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 shared data foundation enables three focused AI solutions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7987" y="2332434"/>
            <a:ext cx="11175720" cy="710902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7532" y="2469319"/>
            <a:ext cx="107566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sources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532" y="2760274"/>
            <a:ext cx="1096617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Banking systems · Transactions · Loan records · Customer interactions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87" y="3061998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7987" y="3224411"/>
            <a:ext cx="11175720" cy="710902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17532" y="3361296"/>
            <a:ext cx="107566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Governed data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532" y="3652251"/>
            <a:ext cx="1096617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quality · Secure access · Privacy controls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7987" y="3953975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7987" y="4116387"/>
            <a:ext cx="3623577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07987" y="4116387"/>
            <a:ext cx="362357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11182" y="4285022"/>
            <a:ext cx="3217187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82" y="4575977"/>
            <a:ext cx="3217187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Risk scoring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Anomaly detection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83960" y="4116387"/>
            <a:ext cx="3623676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283960" y="4116387"/>
            <a:ext cx="3623676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487155" y="4285022"/>
            <a:ext cx="3217286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Credit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7155" y="4575977"/>
            <a:ext cx="3217286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Document extraction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Explainable risk assessment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60032" y="4116387"/>
            <a:ext cx="3623676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8060032" y="4116387"/>
            <a:ext cx="3623676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263227" y="4285022"/>
            <a:ext cx="3217286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service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63227" y="4575977"/>
            <a:ext cx="3217286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Recommendations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Multilingual assistance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7987" y="5027026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987" y="5189438"/>
            <a:ext cx="11175720" cy="698202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1182" y="5319973"/>
            <a:ext cx="107693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Controlled decisions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1182" y="5610928"/>
            <a:ext cx="1097252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Policy checks · Human review · Monitoring and audit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7987" y="5986273"/>
            <a:ext cx="11683708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One governed foundation. Three purpose-built AI applications.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505813" y="6472337"/>
            <a:ext cx="685882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3744"/>
            <a:ext cx="11582110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kern="100" spc="58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PREVENTION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09585" y="843423"/>
            <a:ext cx="10972526" cy="1469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kern="100" spc="-89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 detection should improve accuracy without increasing customer friction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585" y="2512417"/>
            <a:ext cx="10972526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09585" y="2709069"/>
            <a:ext cx="2438339" cy="1069578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4529" y="2953207"/>
            <a:ext cx="1968451" cy="306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Transaction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3505112" y="2943194"/>
            <a:ext cx="914377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76579" y="2709069"/>
            <a:ext cx="2438438" cy="1069578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111523" y="2953207"/>
            <a:ext cx="1968550" cy="306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risk score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772106" y="2943194"/>
            <a:ext cx="914377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3672" y="2709069"/>
            <a:ext cx="2438438" cy="1069578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266" y="2946857"/>
            <a:ext cx="1981250" cy="612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Risk-based action</a:t>
            </a:r>
            <a:endParaRPr lang="en-US" sz="1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3915073"/>
          <a:ext cx="5257669" cy="1250918"/>
        </p:xfrm>
        <a:graphic>
          <a:graphicData uri="http://schemas.openxmlformats.org/drawingml/2006/table">
            <a:tbl>
              <a:tblPr/>
              <a:tblGrid>
                <a:gridCol w="147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55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Risk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Action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Low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Allow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Uncertain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Additional authentication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9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High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Pause or escalate as justified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324442" y="3915073"/>
            <a:ext cx="5257668" cy="940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Combine existing rules with machine learning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Detect unusual transaction patterns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Provide understandable risk reasons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Start with shadow testing before live deployment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09585" y="5306592"/>
            <a:ext cx="11582110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fraud losses · Detection time · Precision · Recall · False decline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585" y="5593655"/>
            <a:ext cx="10972526" cy="511175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09585" y="5593655"/>
            <a:ext cx="38099" cy="511175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76278" y="5751580"/>
            <a:ext cx="10705832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Measure useful fraud detection, not the number of alerts.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505515" y="6472337"/>
            <a:ext cx="686180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3049"/>
            <a:ext cx="12191695" cy="635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7987" y="358869"/>
            <a:ext cx="11683708" cy="132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900" kern="100" spc="5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DECISIONS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7987" y="554610"/>
            <a:ext cx="11175720" cy="13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kern="100" spc="-8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can speed up credit decisions while preserving lending standards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222599"/>
          <a:ext cx="11175720" cy="1797401"/>
        </p:xfrm>
        <a:graphic>
          <a:graphicData uri="http://schemas.openxmlformats.org/drawingml/2006/table">
            <a:tbl>
              <a:tblPr/>
              <a:tblGrid>
                <a:gridCol w="46937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1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Before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AI-enabled processing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Manual document checks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Automated data extraction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Repeated verification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Cross-checks against source records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Long queues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Faster routine processing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40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Limited visibility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Explainable risk reasons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507987" y="4231977"/>
            <a:ext cx="772696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7987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07987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378115" y="4231977"/>
            <a:ext cx="806033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78115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378115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Document verification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48244" y="4231977"/>
            <a:ext cx="80533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03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8244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6248244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 assessment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18372" y="4231977"/>
            <a:ext cx="805636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04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118372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9118372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Policy checks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7987" y="5098478"/>
            <a:ext cx="3547378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Complete, straightforward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7987" y="5423818"/>
            <a:ext cx="3725174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Faster within approved rules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410957" y="5098478"/>
            <a:ext cx="3369682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Incomplete or uncertain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410957" y="5423818"/>
            <a:ext cx="354747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 review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136230" y="5098478"/>
            <a:ext cx="3547478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All material decisions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36230" y="5423818"/>
            <a:ext cx="354747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Records and review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7987" y="5809253"/>
            <a:ext cx="11683708" cy="132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8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approval turnaround time · Manual rework · Early delinquency · Fairness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7987" y="6055246"/>
            <a:ext cx="1168370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Automate routine work, not accountability.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6811" y="4993481"/>
            <a:ext cx="12700" cy="70217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7952085" y="4993481"/>
            <a:ext cx="12700" cy="70217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11504126" y="6472337"/>
            <a:ext cx="687569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838"/>
            <a:ext cx="11582110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00" kern="100" spc="61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CUSTOMER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9585" y="861195"/>
            <a:ext cx="10972526" cy="1536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93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Personalisation should solve customer problems, not just sell products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09585" y="2599333"/>
            <a:ext cx="10972526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09585" y="2810669"/>
            <a:ext cx="5333867" cy="1901329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09585" y="2810669"/>
            <a:ext cx="533386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38179" y="3083047"/>
            <a:ext cx="487667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b="1" kern="10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Relevant personalisation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38179" y="3516809"/>
            <a:ext cx="4876678" cy="745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Bill and deposit-maturity reminders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Budgeting features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Recommendations aligned with needs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48244" y="2810669"/>
            <a:ext cx="5333867" cy="1901329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248244" y="2810669"/>
            <a:ext cx="533386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76838" y="3083047"/>
            <a:ext cx="487667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b="1" kern="10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Multilingual assistant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76838" y="3516809"/>
            <a:ext cx="4876678" cy="966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Answers routine questions from approved bank information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Escalates sensitive or complex cases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Authenticates to protect account information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585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38179" y="5097983"/>
            <a:ext cx="173727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query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804050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535572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64166" y="5097983"/>
            <a:ext cx="1737277" cy="5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Approved information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730037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61559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90153" y="5097983"/>
            <a:ext cx="173727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response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656024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387546" y="4861223"/>
            <a:ext cx="2194565" cy="1001514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616140" y="5097983"/>
            <a:ext cx="1737376" cy="5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Human handoff when needed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09585" y="6018200"/>
            <a:ext cx="11582110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resolution time · Self-service completion · Customer satisfaction · Complaints · Opt-outs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9585" y="6333413"/>
            <a:ext cx="1158211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3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Make everyday banking simpler and more useful.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508293" y="6472337"/>
            <a:ext cx="683402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60200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kern="100" spc="49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GOVERNANCE AND EXECUTION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7987" y="532562"/>
            <a:ext cx="11175720" cy="12376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650" b="1" kern="100" spc="-75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Responsible AI and phased execution must go hand in hand</a:t>
            </a:r>
            <a:endParaRPr lang="en-US" sz="3650" dirty="0"/>
          </a:p>
        </p:txBody>
      </p:sp>
      <p:sp>
        <p:nvSpPr>
          <p:cNvPr id="4" name="Shape 2"/>
          <p:cNvSpPr/>
          <p:nvPr/>
        </p:nvSpPr>
        <p:spPr>
          <a:xfrm>
            <a:off x="507987" y="1960562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110978"/>
          <a:ext cx="11175720" cy="1600180"/>
        </p:xfrm>
        <a:graphic>
          <a:graphicData uri="http://schemas.openxmlformats.org/drawingml/2006/table">
            <a:tbl>
              <a:tblPr/>
              <a:tblGrid>
                <a:gridCol w="268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3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Control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Required practice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Data privacy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Secure, purpose-limited access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Fairness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Test for bias and unequal outcomes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Explainability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Record meaningful decision reasons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12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Accountability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Human oversight, audit, fallback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7987" y="3893115"/>
            <a:ext cx="1117572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Indicative 18-month timeline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7987" y="5081389"/>
            <a:ext cx="11175720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5"/>
          <p:cNvSpPr/>
          <p:nvPr/>
        </p:nvSpPr>
        <p:spPr>
          <a:xfrm>
            <a:off x="2681518" y="4803676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9004" y="5029349"/>
            <a:ext cx="104078" cy="104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6741" y="4201815"/>
            <a:ext cx="408850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0–3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6791" y="4504134"/>
            <a:ext cx="4088504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Governance and data foundation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951289" y="5081389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774" y="5029349"/>
            <a:ext cx="104078" cy="104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916561" y="5497909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3–6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2916561" y="5800229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and credit pilots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221158" y="4803676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644" y="5029349"/>
            <a:ext cx="104078" cy="104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86431" y="4201815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6–12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186431" y="4504134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Controlled deployment and service assistant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9491028" y="5081389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514" y="5029349"/>
            <a:ext cx="104078" cy="1040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456301" y="5497909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12–18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7456301" y="5800229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proven solutions and audit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07987" y="6010013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Indicative timings depend on data readiness, integration, validation, and regulatory review. Apply relevant RBI guidance and Indian data-protection requirements.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507987" y="6222702"/>
            <a:ext cx="11175720" cy="41473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07987" y="6222702"/>
            <a:ext cx="38099" cy="414734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0"/>
          <p:cNvSpPr/>
          <p:nvPr/>
        </p:nvSpPr>
        <p:spPr>
          <a:xfrm>
            <a:off x="774681" y="6356797"/>
            <a:ext cx="10909027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Pilot first. Validate outcomes. Scale responsibly.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07987" y="6738775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1516826" y="6472337"/>
            <a:ext cx="674869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58513"/>
            <a:ext cx="11683708" cy="159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kern="100" spc="6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BUSINESS OUTCOMES AND RECOMMENDATIONS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87" y="597911"/>
            <a:ext cx="11175720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550" b="1" kern="100" spc="-9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Success depends on measurable business outcomes</a:t>
            </a:r>
            <a:endParaRPr lang="en-US" sz="4550" dirty="0"/>
          </a:p>
        </p:txBody>
      </p:sp>
      <p:sp>
        <p:nvSpPr>
          <p:cNvPr id="4" name="Shape 2"/>
          <p:cNvSpPr/>
          <p:nvPr/>
        </p:nvSpPr>
        <p:spPr>
          <a:xfrm>
            <a:off x="507987" y="2298799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07987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7987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1182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11182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losses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False declines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40016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340016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543211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Speed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43211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turnaround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Manual rework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046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172046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375241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75241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Resolution time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Satisfaction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04075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04075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207270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Governance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207270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Validation, fairness,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security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7987" y="4013613"/>
            <a:ext cx="11175720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Recommendations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07987" y="4432498"/>
            <a:ext cx="11175720" cy="9714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Establish performance baselines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Pilot fraud detection and one retail-credit journey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Introduce a controlled customer-service assistant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only when results justify it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7987" y="5588298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07987" y="5927344"/>
            <a:ext cx="11175720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The goal is not to adopt more AI. It is to deliver safer, faster, and more trusted banking.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07987" y="6354877"/>
            <a:ext cx="11683708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Thank You | Questions &amp; Discussion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506904" y="6472337"/>
            <a:ext cx="684791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608</Words>
  <Application>Microsoft Office PowerPoint</Application>
  <PresentationFormat>Widescreen</PresentationFormat>
  <Paragraphs>175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Geist</vt:lpstr>
      <vt:lpstr>Arial</vt:lpstr>
      <vt:lpstr>Geist Bold</vt:lpstr>
      <vt:lpstr>Geist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Aakash lal Krishnani</cp:lastModifiedBy>
  <cp:revision>2</cp:revision>
  <dcterms:created xsi:type="dcterms:W3CDTF">2026-10-18T12:29:24Z</dcterms:created>
  <dcterms:modified xsi:type="dcterms:W3CDTF">2026-10-18T16:38:06Z</dcterms:modified>
</cp:coreProperties>
</file>
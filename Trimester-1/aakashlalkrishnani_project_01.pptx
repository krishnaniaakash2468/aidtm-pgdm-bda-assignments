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0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15486"/>
            <a:ext cx="1117572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STRATEGIC AI RECOMMENDATIONS FOR AN INDIAN BANK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812780" y="1207492"/>
            <a:ext cx="50799" cy="1887736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68371" y="1225907"/>
            <a:ext cx="10210545" cy="145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spc="-8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in Banking &amp;</a:t>
            </a:r>
            <a:endParaRPr lang="en-US" sz="4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400" b="1" spc="-8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Financial Services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168371" y="2772966"/>
            <a:ext cx="1021054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spc="-40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Making banking safer, faster, and more customer-centric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3700066"/>
            <a:ext cx="326798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spc="-40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Fraud Prevention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88752" y="3700066"/>
            <a:ext cx="301409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spc="-40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Credit Decisions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10831" y="3700066"/>
            <a:ext cx="326808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spc="-40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Experience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780" y="4746228"/>
            <a:ext cx="10566136" cy="1400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Group - 1 </a:t>
            </a:r>
            <a:endParaRPr lang="en-US" sz="1400" dirty="0"/>
          </a:p>
          <a:p>
            <a:pPr algn="l"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Aditya Deshmukh                Aakash krishnani</a:t>
            </a:r>
            <a:endParaRPr lang="en-US" sz="1400" dirty="0"/>
          </a:p>
          <a:p>
            <a:pPr algn="l"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Aayushi Goria                       Aditya Mishra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Aditya Panchal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409" y="3514328"/>
            <a:ext cx="12700" cy="6858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850487" y="3514328"/>
            <a:ext cx="12700" cy="6858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9886"/>
            <a:ext cx="1168370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CHALLENGES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618153"/>
            <a:ext cx="11175720" cy="158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Three problems require one coordinated strategy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7987" y="2409130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632968"/>
          <a:ext cx="11175721" cy="914400"/>
        </p:xfrm>
        <a:graphic>
          <a:graphicData uri="http://schemas.openxmlformats.org/drawingml/2006/table">
            <a:tbl>
              <a:tblPr/>
              <a:tblGrid>
                <a:gridCol w="2458579"/>
                <a:gridCol w="4470288"/>
                <a:gridCol w="4246853"/>
              </a:tblGrid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Business challenge</a:t>
                      </a:r>
                      <a:endParaRPr lang="en-US" sz="17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Current issue</a:t>
                      </a:r>
                      <a:endParaRPr lang="en-US" sz="17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Strategic need</a:t>
                      </a:r>
                      <a:endParaRPr lang="en-US" sz="17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</a:tr>
              <a:tr h="694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spc="-28" kern="100" dirty="0">
                          <a:solidFill>
                            <a:srgbClr val="F2F5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Fraud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Missed risks and false alerts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Better risk detection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</a:tr>
              <a:tr h="694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spc="-28" kern="100" dirty="0">
                          <a:solidFill>
                            <a:srgbClr val="F2F5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Lending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Manual checks and delays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Faster, fairer decisions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spc="-28" kern="100" dirty="0">
                          <a:solidFill>
                            <a:srgbClr val="F2F5F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Engagement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Generic and slow service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Relevant customer support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203195" marR="203195" marT="228594" marB="228594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7987" y="5613400"/>
            <a:ext cx="11175720" cy="787400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7987" y="5613400"/>
            <a:ext cx="38099" cy="787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25479" y="5849937"/>
            <a:ext cx="1057883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spc="-40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must improve business processes, not simply add new technology.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505019" y="6472337"/>
            <a:ext cx="686676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22884"/>
            <a:ext cx="12191695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7987" y="361482"/>
            <a:ext cx="11683708" cy="11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48" kern="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SOLUTION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7987" y="530248"/>
            <a:ext cx="11175720" cy="121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50" b="1" spc="-73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 shared data foundation enables three focused AI solutions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507987" y="2332434"/>
            <a:ext cx="11175720" cy="710902"/>
          </a:xfrm>
          <a:prstGeom prst="rect">
            <a:avLst/>
          </a:prstGeom>
          <a:solidFill>
            <a:srgbClr val="1D232D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7532" y="2469319"/>
            <a:ext cx="1075663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532" y="2760274"/>
            <a:ext cx="1096617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Banking systems · Transactions · Loan records · Customer interactions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87" y="3061998"/>
            <a:ext cx="1117572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7987" y="3224411"/>
            <a:ext cx="11175720" cy="710902"/>
          </a:xfrm>
          <a:prstGeom prst="rect">
            <a:avLst/>
          </a:prstGeom>
          <a:solidFill>
            <a:srgbClr val="1D232D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17532" y="3361296"/>
            <a:ext cx="1075663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Governed data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532" y="3652251"/>
            <a:ext cx="1096617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quality · Secure access · Privacy controls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7987" y="3953975"/>
            <a:ext cx="1117572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↓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7987" y="4116387"/>
            <a:ext cx="3623577" cy="891977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987" y="4116387"/>
            <a:ext cx="3623577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1182" y="4285022"/>
            <a:ext cx="321718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Fraud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182" y="4575977"/>
            <a:ext cx="3217187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Risk scoring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83960" y="4116387"/>
            <a:ext cx="3623676" cy="891977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283960" y="4116387"/>
            <a:ext cx="3623676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87155" y="4285022"/>
            <a:ext cx="3217286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Credit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7155" y="4575977"/>
            <a:ext cx="3217286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 extraction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Explainable risk assessment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60032" y="4116387"/>
            <a:ext cx="3623676" cy="891977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060032" y="4116387"/>
            <a:ext cx="3623676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63227" y="4285022"/>
            <a:ext cx="3217286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63227" y="4575977"/>
            <a:ext cx="3217286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Recommendations</a:t>
            </a:r>
            <a:endParaRPr lang="en-US" sz="105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Multilingual assistance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7987" y="5027026"/>
            <a:ext cx="1117572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987" y="5189438"/>
            <a:ext cx="11175720" cy="698202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1182" y="5319973"/>
            <a:ext cx="10769331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10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Controlled decisions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1182" y="5610928"/>
            <a:ext cx="1097252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Policy checks · Human review · Monitoring and audit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987" y="5986273"/>
            <a:ext cx="1168370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One governed foundation. Three purpose-built AI applications.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05813" y="6472337"/>
            <a:ext cx="685882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44"/>
            <a:ext cx="11582110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spc="58" kern="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FRAUD PREVENTION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43423"/>
            <a:ext cx="10972526" cy="1469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50" b="1" spc="-89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Fraud detection should improve accuracy without increasing customer friction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609585" y="2512417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585" y="2709069"/>
            <a:ext cx="2438339" cy="1069578"/>
          </a:xfrm>
          <a:prstGeom prst="rect">
            <a:avLst/>
          </a:prstGeom>
          <a:solidFill>
            <a:srgbClr val="1D232D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4529" y="2953207"/>
            <a:ext cx="1968451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Transaction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3505112" y="2943194"/>
            <a:ext cx="91437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76579" y="2709069"/>
            <a:ext cx="2438438" cy="1069578"/>
          </a:xfrm>
          <a:prstGeom prst="rect">
            <a:avLst/>
          </a:prstGeom>
          <a:solidFill>
            <a:srgbClr val="1D232D"/>
          </a:solidFill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111523" y="2953207"/>
            <a:ext cx="1968550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risk score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772106" y="2943194"/>
            <a:ext cx="91437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3672" y="2709069"/>
            <a:ext cx="2438438" cy="1069578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72266" y="2946857"/>
            <a:ext cx="1981250" cy="61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10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Risk-based action</a:t>
            </a:r>
            <a:endParaRPr lang="en-US" sz="1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915073"/>
          <a:ext cx="5257669" cy="914400"/>
        </p:xfrm>
        <a:graphic>
          <a:graphicData uri="http://schemas.openxmlformats.org/drawingml/2006/table">
            <a:tbl>
              <a:tblPr/>
              <a:tblGrid>
                <a:gridCol w="1472072"/>
                <a:gridCol w="3785597"/>
              </a:tblGrid>
              <a:tr h="314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Risk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Action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</a:tr>
              <a:tr h="314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Low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Allow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</a:tr>
              <a:tr h="3143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Uncertain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Additional authentication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9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High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Pause or escalate as justified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324442" y="3915073"/>
            <a:ext cx="5257668" cy="94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4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 existing rules with machine learning</a:t>
            </a:r>
            <a:endParaRPr lang="en-US" sz="1300" dirty="0"/>
          </a:p>
          <a:p>
            <a:pPr algn="l" marL="264160" indent="-264160">
              <a:lnSpc>
                <a:spcPct val="104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 unusual transaction patterns</a:t>
            </a:r>
            <a:endParaRPr lang="en-US" sz="1300" dirty="0"/>
          </a:p>
          <a:p>
            <a:pPr algn="l" marL="264160" indent="-264160">
              <a:lnSpc>
                <a:spcPct val="104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 understandable risk reasons</a:t>
            </a:r>
            <a:endParaRPr lang="en-US" sz="1300" dirty="0"/>
          </a:p>
          <a:p>
            <a:pPr algn="l" marL="264160" indent="-264160">
              <a:lnSpc>
                <a:spcPct val="104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Start with shadow testing before live deployment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9585" y="5306592"/>
            <a:ext cx="11582110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KPIs: fraud losses · Detection time · Precision · Recall · False decline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9585" y="5593655"/>
            <a:ext cx="10972526" cy="511175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09585" y="5593655"/>
            <a:ext cx="38099" cy="511175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76278" y="5751580"/>
            <a:ext cx="1070583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Measure useful fraud detection, not the number of alerts.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05515" y="6472337"/>
            <a:ext cx="686180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3049"/>
            <a:ext cx="12191695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7987" y="358869"/>
            <a:ext cx="11683708" cy="13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spc="53" kern="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CREDIT DECISIONS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87" y="554610"/>
            <a:ext cx="11175720" cy="13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spc="-80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can speed up credit decisions while preserving lending standards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222599"/>
          <a:ext cx="11175721" cy="914400"/>
        </p:xfrm>
        <a:graphic>
          <a:graphicData uri="http://schemas.openxmlformats.org/drawingml/2006/table">
            <a:tbl>
              <a:tblPr/>
              <a:tblGrid>
                <a:gridCol w="4693723"/>
                <a:gridCol w="6481997"/>
              </a:tblGrid>
              <a:tr h="360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Before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AI-enabled processing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</a:tr>
              <a:tr h="360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Manual document checks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Automated data extraction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</a:tr>
              <a:tr h="360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Repeated verification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Cross-checks against source records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Long queues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Faster routine processing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</a:tr>
              <a:tr h="3544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Limited visibility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Explainable risk reasons</a:t>
                      </a:r>
                      <a:endParaRPr lang="en-US" sz="11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88898" marB="888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7987" y="4231977"/>
            <a:ext cx="77269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7987" y="4439543"/>
            <a:ext cx="2565237" cy="19050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7987" y="4550889"/>
            <a:ext cx="256533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78115" y="4231977"/>
            <a:ext cx="80603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78115" y="4439543"/>
            <a:ext cx="2565237" cy="19050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378115" y="4550889"/>
            <a:ext cx="256533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Document verification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48244" y="4231977"/>
            <a:ext cx="8053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8244" y="4439543"/>
            <a:ext cx="2565237" cy="19050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48244" y="4550889"/>
            <a:ext cx="256533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 assessment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18372" y="4231977"/>
            <a:ext cx="80563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18372" y="4439543"/>
            <a:ext cx="2565237" cy="19050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118372" y="4550889"/>
            <a:ext cx="256533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Policy checks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7987" y="5098478"/>
            <a:ext cx="3547378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Complete, straightforward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987" y="5423818"/>
            <a:ext cx="3725174" cy="17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Faster within approved rules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410957" y="5098478"/>
            <a:ext cx="3369682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Incomplete or uncertain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410957" y="5423818"/>
            <a:ext cx="3547478" cy="17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136230" y="5098478"/>
            <a:ext cx="3547478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spc="-2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All material decisions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36230" y="5423818"/>
            <a:ext cx="3547478" cy="17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Records and review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7987" y="5809253"/>
            <a:ext cx="11683708" cy="13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KPIs: approval turnaround time · Manual rework · Early delinquency · Fairness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7987" y="6055246"/>
            <a:ext cx="11683708" cy="17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Automate routine work, not accountability.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26811" y="4993481"/>
            <a:ext cx="12700" cy="70217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952085" y="4993481"/>
            <a:ext cx="12700" cy="70217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1504126" y="6472337"/>
            <a:ext cx="687569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838"/>
            <a:ext cx="1158211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00" spc="61" kern="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61195"/>
            <a:ext cx="10972526" cy="1536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50" b="1" spc="-93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Personalisation should solve customer problems, not just sell products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609585" y="2599333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585" y="2810669"/>
            <a:ext cx="5333867" cy="1901329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09585" y="2810669"/>
            <a:ext cx="5333867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8179" y="3083047"/>
            <a:ext cx="487667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b="1" spc="-39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Relevant personalisation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8179" y="3516809"/>
            <a:ext cx="4876678" cy="74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Bill and deposit-maturity reminders</a:t>
            </a:r>
            <a:endParaRPr lang="en-US" sz="1350" dirty="0"/>
          </a:p>
          <a:p>
            <a:pPr algn="l" marL="274320" indent="-274320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Budgeting features</a:t>
            </a:r>
            <a:endParaRPr lang="en-US" sz="1350" dirty="0"/>
          </a:p>
          <a:p>
            <a:pPr algn="l" marL="274320" indent="-274320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Recommendations aligned with needs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8244" y="2810669"/>
            <a:ext cx="5333867" cy="1901329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48244" y="2810669"/>
            <a:ext cx="5333867" cy="381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76838" y="3083047"/>
            <a:ext cx="487667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50" b="1" spc="-39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Multilingual assistant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76838" y="3516809"/>
            <a:ext cx="4876678" cy="966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Answers routine questions from approved bank information</a:t>
            </a:r>
            <a:endParaRPr lang="en-US" sz="1350" dirty="0"/>
          </a:p>
          <a:p>
            <a:pPr algn="l" marL="274320" indent="-274320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Escalates sensitive or complex cases</a:t>
            </a:r>
            <a:endParaRPr lang="en-US" sz="1350" dirty="0"/>
          </a:p>
          <a:p>
            <a:pPr algn="l" marL="274320" indent="-274320">
              <a:lnSpc>
                <a:spcPct val="107000"/>
              </a:lnSpc>
              <a:buSzPct val="100000"/>
              <a:buChar char="•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Authenticates to protect account information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585" y="4861223"/>
            <a:ext cx="2194465" cy="1001514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8179" y="5097983"/>
            <a:ext cx="173727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b="1" spc="-33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 query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804050" y="5096552"/>
            <a:ext cx="731522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35572" y="4861223"/>
            <a:ext cx="2194465" cy="1001514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764166" y="5097983"/>
            <a:ext cx="1737277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b="1" spc="-33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Approved information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730037" y="5096552"/>
            <a:ext cx="731522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61559" y="4861223"/>
            <a:ext cx="2194465" cy="1001514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90153" y="5097983"/>
            <a:ext cx="173727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b="1" spc="-33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response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656024" y="5096552"/>
            <a:ext cx="731522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87546" y="4861223"/>
            <a:ext cx="2194565" cy="1001514"/>
          </a:xfrm>
          <a:prstGeom prst="rect">
            <a:avLst/>
          </a:prstGeom>
          <a:solidFill>
            <a:srgbClr val="6296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16140" y="5097983"/>
            <a:ext cx="1737376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50" b="1" spc="-33" kern="100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Human handoff when needed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09585" y="6018200"/>
            <a:ext cx="1158211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KPIs: resolution time · Self-service completion · Customer satisfaction · Complaints · Opt-outs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585" y="6333413"/>
            <a:ext cx="1158211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Make everyday banking simpler and more useful.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08293" y="6472337"/>
            <a:ext cx="683402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60200"/>
            <a:ext cx="1168370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49" kern="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GOVERNANCE AND EXECUTION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87" y="532562"/>
            <a:ext cx="11175720" cy="1237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50" b="1" spc="-75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Responsible AI and phased execution must go hand in hand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507987" y="1960562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110978"/>
          <a:ext cx="11175721" cy="914400"/>
        </p:xfrm>
        <a:graphic>
          <a:graphicData uri="http://schemas.openxmlformats.org/drawingml/2006/table">
            <a:tbl>
              <a:tblPr/>
              <a:tblGrid>
                <a:gridCol w="2682113"/>
                <a:gridCol w="8493607"/>
              </a:tblGrid>
              <a:tr h="31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Control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Required practice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9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96FF"/>
                    </a:solidFill>
                  </a:tcPr>
                </a:tc>
              </a:tr>
              <a:tr h="31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Data privacy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Secure, purpose-limited access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</a:tr>
              <a:tr h="31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Fairness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Test for bias and unequal outcomes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Explainability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Record meaningful decision reasons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23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D"/>
                    </a:solidFill>
                  </a:tcPr>
                </a:tc>
              </a:tr>
              <a:tr h="3131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Accountability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Human oversight, audit, fallback</a:t>
                      </a:r>
                      <a:endParaRPr lang="en-US" sz="11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88898" marR="88898" marT="76198" marB="76198" anchor="ctr">
                    <a:lnL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7987" y="3893115"/>
            <a:ext cx="1117572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7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Indicative 18-month timeline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7987" y="5081389"/>
            <a:ext cx="11175720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681518" y="4803676"/>
            <a:ext cx="19050" cy="27771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9004" y="5029349"/>
            <a:ext cx="104078" cy="104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6741" y="4201815"/>
            <a:ext cx="40885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7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Months 0–3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6791" y="4504134"/>
            <a:ext cx="408850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Governance and data foundation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51289" y="5081389"/>
            <a:ext cx="19050" cy="27771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74" y="5029349"/>
            <a:ext cx="104078" cy="104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16561" y="5497909"/>
            <a:ext cx="40886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7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Months 3–6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916561" y="5800229"/>
            <a:ext cx="40886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Fraud and credit pilots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221158" y="4803676"/>
            <a:ext cx="19050" cy="27771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644" y="5029349"/>
            <a:ext cx="104078" cy="104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6431" y="4201815"/>
            <a:ext cx="40886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7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Months 6–12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186431" y="4504134"/>
            <a:ext cx="40886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Controlled deployment and service assistant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491028" y="5081389"/>
            <a:ext cx="19050" cy="277713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514" y="5029349"/>
            <a:ext cx="104078" cy="104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56301" y="5497909"/>
            <a:ext cx="408860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spc="-27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Months 12–18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7456301" y="5800229"/>
            <a:ext cx="40886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proven solutions and audit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07987" y="6010013"/>
            <a:ext cx="1168370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Indicative timings depend on data readiness, integration, validation, and regulatory review. Apply relevant RBI guidance and Indian data-protection requirements.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507987" y="6222702"/>
            <a:ext cx="11175720" cy="414734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507987" y="6222702"/>
            <a:ext cx="38099" cy="414734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27" name="Text 20"/>
          <p:cNvSpPr/>
          <p:nvPr/>
        </p:nvSpPr>
        <p:spPr>
          <a:xfrm>
            <a:off x="774681" y="6356797"/>
            <a:ext cx="1090902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Pilot first. Validate outcomes. Scale responsibly.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07987" y="6738775"/>
            <a:ext cx="11683708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11516826" y="6472337"/>
            <a:ext cx="674869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8513"/>
            <a:ext cx="11683708" cy="159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spc="60" kern="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 OUTCOMES AND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87" y="597911"/>
            <a:ext cx="11175720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50" b="1" spc="-91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Success depends on measurable business outcomes</a:t>
            </a:r>
            <a:endParaRPr lang="en-US" sz="4550" dirty="0"/>
          </a:p>
        </p:txBody>
      </p:sp>
      <p:sp>
        <p:nvSpPr>
          <p:cNvPr id="4" name="Shape 2"/>
          <p:cNvSpPr/>
          <p:nvPr/>
        </p:nvSpPr>
        <p:spPr>
          <a:xfrm>
            <a:off x="507987" y="2298799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7987" y="2502198"/>
            <a:ext cx="2679633" cy="1233488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7987" y="2502198"/>
            <a:ext cx="2679633" cy="25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1182" y="2712955"/>
            <a:ext cx="2273243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8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1182" y="3140487"/>
            <a:ext cx="2273243" cy="42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Fraud losses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False declines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40016" y="2502198"/>
            <a:ext cx="2679633" cy="1233488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40016" y="2502198"/>
            <a:ext cx="2679633" cy="25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43211" y="2712955"/>
            <a:ext cx="2273243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8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43211" y="3140487"/>
            <a:ext cx="2273243" cy="42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Credit turnaround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rework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046" y="2502198"/>
            <a:ext cx="2679633" cy="1233488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72046" y="2502198"/>
            <a:ext cx="2679633" cy="25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75241" y="2712955"/>
            <a:ext cx="2273243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8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Customer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75241" y="3140487"/>
            <a:ext cx="2273243" cy="42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Resolution time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Satisfaction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04075" y="2502198"/>
            <a:ext cx="2679633" cy="1233488"/>
          </a:xfrm>
          <a:prstGeom prst="rect">
            <a:avLst/>
          </a:prstGeom>
          <a:solidFill>
            <a:srgbClr val="1D232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04075" y="2502198"/>
            <a:ext cx="2679633" cy="25400"/>
          </a:xfrm>
          <a:prstGeom prst="rect">
            <a:avLst/>
          </a:prstGeom>
          <a:solidFill>
            <a:srgbClr val="008A8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07270" y="2712955"/>
            <a:ext cx="2273243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8" kern="10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07270" y="3140487"/>
            <a:ext cx="2273243" cy="426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Validation, fairness,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security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7987" y="4013613"/>
            <a:ext cx="11175720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7987" y="4432498"/>
            <a:ext cx="11175720" cy="971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050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Establish performance baselines</a:t>
            </a:r>
            <a:endParaRPr lang="en-US" sz="1350" dirty="0"/>
          </a:p>
          <a:p>
            <a:pPr algn="l" marL="274320" indent="-274320">
              <a:lnSpc>
                <a:spcPct val="105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Pilot fraud detection and one retail-credit journey</a:t>
            </a:r>
            <a:endParaRPr lang="en-US" sz="1350" dirty="0"/>
          </a:p>
          <a:p>
            <a:pPr algn="l" marL="274320" indent="-274320">
              <a:lnSpc>
                <a:spcPct val="105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Introduce a controlled customer-service assistant</a:t>
            </a:r>
            <a:endParaRPr lang="en-US" sz="1350" dirty="0"/>
          </a:p>
          <a:p>
            <a:pPr algn="l" marL="274320" indent="-274320">
              <a:lnSpc>
                <a:spcPct val="105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only when results justify it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7987" y="5588298"/>
            <a:ext cx="11175621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7987" y="5927344"/>
            <a:ext cx="11175720" cy="31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8" kern="10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goal is not to adopt more AI. It is to deliver safer, faster, and more trusted banking.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07987" y="6354877"/>
            <a:ext cx="11683708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You | Questions &amp; Discussion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06904" y="6472337"/>
            <a:ext cx="684791" cy="161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2026-10-18T12:29:24Z</dcterms:created>
  <dcterms:modified xsi:type="dcterms:W3CDTF">2026-10-18T12:29:24Z</dcterms:modified>
</cp:coreProperties>
</file>